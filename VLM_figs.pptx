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59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7993-73E2-6BD0-D6A0-3FA7A3835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A500C-53A8-77D7-5A48-F5D23445B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7DE43-5618-B48B-799B-913F1B84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CF9F-5479-289F-D5E1-D84C23C8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2E1AB-0F61-FC66-03D6-943EC20D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6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2B63-0804-A1F5-CD2F-79E7B6AF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9CB5-FD10-FCB9-E6A0-B7FA77A0C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DC32-1D61-7883-2AF3-9E6D5006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F97E-999B-DBE2-8070-49B9EA6BD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23EAB-BDAD-C272-32E6-BD811A55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7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0DF5-A5A5-5265-6790-864BD891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BAE64-89BA-CD80-B946-5FB4CCE8C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F516-3776-CD3A-AE53-81454EB0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83EEF-734B-9A2B-8ECC-77D6340D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A5E3C-9447-D67B-0034-2FCD1EC4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60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BC79-3C0D-E7AD-2A2F-2FB80CC3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D9C7-0120-372F-3AD0-151B10F59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594D7-B1B9-6FE4-3059-617FD80EA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AA62C-E79A-7338-BE2B-74FB02B7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A1B49-B442-39F8-84D8-56A33328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3729E-0F3E-4C89-206F-7C7C31B0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7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2182-3A1A-2642-0917-C8227ECD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B9CA1-7248-7D23-198B-7999D327F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76451-BD3C-DCB4-644A-D38A25A12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3F93E-C751-E6FF-F4A0-982190EA7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987C5-091C-FAA8-7B85-411094ED1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A5EAA-E3DA-BB3F-15AA-463CEDBA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060A4-8257-FA9F-2766-7EAF1166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7B255-7586-5BF4-5B6D-CAC24F52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44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E59A-6BEB-5E9B-B746-18A54174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E9FA9-89EC-C40C-3297-CBA15D12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2C415-18F5-68EF-E061-0395FF9F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8C15A-19DC-427C-F89F-B06ABF8A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3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05F7B-4575-6DD1-43E1-9A7F6203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7C281-19C3-F4FC-3508-09B1DEAC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841E6-1DC4-E03A-A294-2D6EFCE4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69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9D73-0DBC-A493-0F1E-F48CAC12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738A-3AB8-0C79-3E2B-F7F7392F4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58E7E-29B2-8D6E-AC70-A83294C6B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893BB-4F23-3A7A-B980-96E4D18B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32E4F-F613-EAA8-4EED-F09D7D78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24E2A-9142-07F6-23A9-E2917642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3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39F1-F3E2-51A4-6824-2C62DDEE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F5329-8301-4233-DDD2-BC63DB412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52BEE-AD0D-1D1B-CBDB-8C4537837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883B2-B633-6789-1702-2236E587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192E0-8F4A-2A93-73C4-BC15FC1D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9138C-ADC4-2859-BCFE-F84636A5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3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9371-1C50-7CC2-7297-A685C1A8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C4864-2C88-3EFC-C555-F37302D59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0699E-B470-9B82-467E-21D5137F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02CAC-1B02-66E5-C62B-15862CD2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74F-3CA3-B8C3-4E3C-7138EC53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9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561F3-DF58-B0FD-AEED-DAA6953FE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2C57F-4A20-C020-4AF5-63AAF592B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139EC-BCC5-B151-BCC7-8924A753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E094-84C7-4C0F-1CC6-245F101D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62E7A-CCA9-3B67-58D9-DF9BBB2F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2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B0A0B-0444-6FCC-61A9-47D4215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A0664-BDBD-04D9-DF08-FB2298F8A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E947B-29AD-67C1-ECFD-75E805346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9FFAC-C46A-4721-8ECF-F3607A15B6AB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1F0A-68D4-FA7D-9776-AA387F854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B850B-15FF-D047-2591-9B0A9DECD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FD3FB-7981-4454-8CDF-A5186331B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9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grouped-query-attention-gqa/" TargetMode="External"/><Relationship Id="rId2" Type="http://schemas.openxmlformats.org/officeDocument/2006/relationships/hyperlink" Target="https://wheremachinesthink.substack.com/p/the-enigmatic-multilayer-perceptron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s231n.stanford.edu/slides/2022/lecture_1_2_ruohan.pdf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E16F-D132-9179-5874-5EBDFAC5B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BAF44-058E-8E3C-DA2F-3290FCA0D9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hlinkClick r:id="rId2"/>
              </a:rPr>
              <a:t>https://wheremachinesthink.substack.com/p/the-enigmatic-multilayer-perceptrons</a:t>
            </a:r>
            <a:endParaRPr lang="en-IN" dirty="0"/>
          </a:p>
          <a:p>
            <a:r>
              <a:rPr lang="en-IN" dirty="0">
                <a:hlinkClick r:id="rId3"/>
              </a:rPr>
              <a:t>https://www.geeksforgeeks.org/deep-learning/grouped-query-attention-gqa/</a:t>
            </a:r>
            <a:endParaRPr lang="en-IN" dirty="0"/>
          </a:p>
          <a:p>
            <a:r>
              <a:rPr lang="en-IN" dirty="0"/>
              <a:t>Gaussian Error Linear Unit (GELU)</a:t>
            </a:r>
          </a:p>
          <a:p>
            <a:r>
              <a:rPr lang="en-IN" dirty="0">
                <a:hlinkClick r:id="rId4"/>
              </a:rPr>
              <a:t>https://cs231n.stanford.edu/slides/2022/lecture_1_2_ruohan.pdf</a:t>
            </a:r>
            <a:endParaRPr lang="en-IN" dirty="0"/>
          </a:p>
          <a:p>
            <a:r>
              <a:rPr lang="en-IN"/>
              <a:t>paperswithcode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72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7EAF-C51C-EDD8-41DA-6F261BAE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EA6D5-2AF3-E43D-76CF-B1F4ADFBEA5E}"/>
                  </a:ext>
                </a:extLst>
              </p:cNvPr>
              <p:cNvSpPr txBox="1"/>
              <p:nvPr/>
            </p:nvSpPr>
            <p:spPr>
              <a:xfrm>
                <a:off x="838200" y="1825227"/>
                <a:ext cx="6094378" cy="4315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Q=XW</a:t>
                </a:r>
                <a:r>
                  <a:rPr lang="en-IN" baseline="-25000" dirty="0"/>
                  <a:t>Q</a:t>
                </a:r>
                <a:r>
                  <a:rPr lang="en-IN" dirty="0"/>
                  <a:t>​, K=XW</a:t>
                </a:r>
                <a:r>
                  <a:rPr lang="en-IN" baseline="-25000" dirty="0"/>
                  <a:t>K</a:t>
                </a:r>
                <a:r>
                  <a:rPr lang="en-IN" dirty="0"/>
                  <a:t>​, V=XW</a:t>
                </a:r>
                <a:r>
                  <a:rPr lang="en-IN" baseline="-25000" dirty="0"/>
                  <a:t>V</a:t>
                </a:r>
                <a:r>
                  <a:rPr lang="en-IN" dirty="0"/>
                  <a:t>​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RoPE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̃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RoPE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Attention scores: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̃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dirty="0"/>
              </a:p>
              <a:p>
                <a:pPr>
                  <a:buFont typeface="+mj-lt"/>
                  <a:buAutoNum type="arabicPeriod" startAt="4"/>
                </a:pPr>
                <a:r>
                  <a:rPr lang="en-IN" b="1" dirty="0"/>
                  <a:t>Add the mask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b="1" dirty="0"/>
                  <a:t>:</a:t>
                </a:r>
                <a:r>
                  <a:rPr lang="en-IN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IN" dirty="0"/>
              </a:p>
              <a:p>
                <a:pPr>
                  <a:buFont typeface="+mj-lt"/>
                  <a:buAutoNum type="arabicPeriod" startAt="5"/>
                </a:pPr>
                <a:r>
                  <a:rPr lang="en-IN" dirty="0" err="1"/>
                  <a:t>Softmax</a:t>
                </a:r>
                <a:r>
                  <a:rPr lang="en-IN" dirty="0"/>
                  <a:t>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Font typeface="+mj-lt"/>
                  <a:buAutoNum type="arabicPeriod" startAt="6"/>
                </a:pPr>
                <a:r>
                  <a:rPr lang="en-IN" dirty="0"/>
                  <a:t>Weighted sum: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𝐴𝑉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EA6D5-2AF3-E43D-76CF-B1F4ADFBE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227"/>
                <a:ext cx="6094378" cy="4315540"/>
              </a:xfrm>
              <a:prstGeom prst="rect">
                <a:avLst/>
              </a:prstGeom>
              <a:blipFill>
                <a:blip r:embed="rId2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42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8A5EBDE-FA11-DF25-65ED-FAF291238B76}"/>
              </a:ext>
            </a:extLst>
          </p:cNvPr>
          <p:cNvSpPr/>
          <p:nvPr/>
        </p:nvSpPr>
        <p:spPr>
          <a:xfrm>
            <a:off x="7563965" y="1240717"/>
            <a:ext cx="2334638" cy="4995757"/>
          </a:xfrm>
          <a:prstGeom prst="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524F79-B85F-BA15-91A1-82308960359B}"/>
              </a:ext>
            </a:extLst>
          </p:cNvPr>
          <p:cNvSpPr/>
          <p:nvPr/>
        </p:nvSpPr>
        <p:spPr>
          <a:xfrm>
            <a:off x="3142040" y="1945532"/>
            <a:ext cx="2587551" cy="37710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2A9127-B7A9-87E5-9B58-E0EB76CB0D31}"/>
              </a:ext>
            </a:extLst>
          </p:cNvPr>
          <p:cNvSpPr/>
          <p:nvPr/>
        </p:nvSpPr>
        <p:spPr>
          <a:xfrm>
            <a:off x="3521415" y="2199617"/>
            <a:ext cx="1828800" cy="6517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preprocessor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2CBD1F-4D77-B463-FE29-A58A406CD10F}"/>
              </a:ext>
            </a:extLst>
          </p:cNvPr>
          <p:cNvSpPr/>
          <p:nvPr/>
        </p:nvSpPr>
        <p:spPr>
          <a:xfrm>
            <a:off x="3521415" y="3412720"/>
            <a:ext cx="1828800" cy="6517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Vision Blocks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AB3ABB-B118-8559-8730-19E65DD6B579}"/>
              </a:ext>
            </a:extLst>
          </p:cNvPr>
          <p:cNvSpPr/>
          <p:nvPr/>
        </p:nvSpPr>
        <p:spPr>
          <a:xfrm>
            <a:off x="3521415" y="4760844"/>
            <a:ext cx="1828800" cy="6517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Vision Patch Merger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8D9F28-DD9D-C706-0DA6-07B2002B1335}"/>
              </a:ext>
            </a:extLst>
          </p:cNvPr>
          <p:cNvCxnSpPr>
            <a:cxnSpLocks/>
          </p:cNvCxnSpPr>
          <p:nvPr/>
        </p:nvCxnSpPr>
        <p:spPr>
          <a:xfrm flipH="1">
            <a:off x="4435815" y="1474585"/>
            <a:ext cx="1" cy="725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be 12">
            <a:extLst>
              <a:ext uri="{FF2B5EF4-FFF2-40B4-BE49-F238E27FC236}">
                <a16:creationId xmlns:a16="http://schemas.microsoft.com/office/drawing/2014/main" id="{AEE6F423-2DB2-99E7-2736-736072A119B8}"/>
              </a:ext>
            </a:extLst>
          </p:cNvPr>
          <p:cNvSpPr/>
          <p:nvPr/>
        </p:nvSpPr>
        <p:spPr>
          <a:xfrm>
            <a:off x="4050762" y="671631"/>
            <a:ext cx="770104" cy="712551"/>
          </a:xfrm>
          <a:prstGeom prst="cub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3ADCC2-6360-8426-93D2-DA24229A2646}"/>
              </a:ext>
            </a:extLst>
          </p:cNvPr>
          <p:cNvCxnSpPr>
            <a:cxnSpLocks/>
          </p:cNvCxnSpPr>
          <p:nvPr/>
        </p:nvCxnSpPr>
        <p:spPr>
          <a:xfrm>
            <a:off x="4435814" y="5427837"/>
            <a:ext cx="0" cy="8169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Or 14">
            <a:extLst>
              <a:ext uri="{FF2B5EF4-FFF2-40B4-BE49-F238E27FC236}">
                <a16:creationId xmlns:a16="http://schemas.microsoft.com/office/drawing/2014/main" id="{B4B0CA91-69DD-EFB1-251D-52393E27098A}"/>
              </a:ext>
            </a:extLst>
          </p:cNvPr>
          <p:cNvSpPr/>
          <p:nvPr/>
        </p:nvSpPr>
        <p:spPr>
          <a:xfrm>
            <a:off x="8492054" y="3178344"/>
            <a:ext cx="483506" cy="454761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EB2348-25A4-8C6C-A664-6D2EDB06A5CE}"/>
              </a:ext>
            </a:extLst>
          </p:cNvPr>
          <p:cNvSpPr/>
          <p:nvPr/>
        </p:nvSpPr>
        <p:spPr>
          <a:xfrm>
            <a:off x="7856706" y="1774729"/>
            <a:ext cx="1754207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Layer Norm</a:t>
            </a:r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83D617-0A46-4CE1-0D6C-226BC6D508F3}"/>
              </a:ext>
            </a:extLst>
          </p:cNvPr>
          <p:cNvSpPr/>
          <p:nvPr/>
        </p:nvSpPr>
        <p:spPr>
          <a:xfrm>
            <a:off x="7856706" y="2477153"/>
            <a:ext cx="1754204" cy="39883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Multi-Head Attention</a:t>
            </a:r>
            <a:endParaRPr lang="en-IN" sz="16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1ADFBB-C27D-B176-22E7-71FD26E15DE0}"/>
              </a:ext>
            </a:extLst>
          </p:cNvPr>
          <p:cNvCxnSpPr>
            <a:cxnSpLocks/>
          </p:cNvCxnSpPr>
          <p:nvPr/>
        </p:nvCxnSpPr>
        <p:spPr>
          <a:xfrm flipH="1">
            <a:off x="8731284" y="817123"/>
            <a:ext cx="8019" cy="9487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18155F-01DA-605B-6E51-22607FB1D6F7}"/>
              </a:ext>
            </a:extLst>
          </p:cNvPr>
          <p:cNvCxnSpPr>
            <a:cxnSpLocks/>
          </p:cNvCxnSpPr>
          <p:nvPr/>
        </p:nvCxnSpPr>
        <p:spPr>
          <a:xfrm>
            <a:off x="8767863" y="2173563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5E2E8A-EFD2-B981-B36B-1DECAC1DA6B3}"/>
              </a:ext>
            </a:extLst>
          </p:cNvPr>
          <p:cNvCxnSpPr>
            <a:cxnSpLocks/>
          </p:cNvCxnSpPr>
          <p:nvPr/>
        </p:nvCxnSpPr>
        <p:spPr>
          <a:xfrm>
            <a:off x="8748405" y="2875987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Or 23">
            <a:extLst>
              <a:ext uri="{FF2B5EF4-FFF2-40B4-BE49-F238E27FC236}">
                <a16:creationId xmlns:a16="http://schemas.microsoft.com/office/drawing/2014/main" id="{CD8F52DC-09F1-1869-F683-658D973E3655}"/>
              </a:ext>
            </a:extLst>
          </p:cNvPr>
          <p:cNvSpPr/>
          <p:nvPr/>
        </p:nvSpPr>
        <p:spPr>
          <a:xfrm>
            <a:off x="8487011" y="5626882"/>
            <a:ext cx="504584" cy="496111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C14680C-E496-2802-01DF-1548AAEBDCF6}"/>
              </a:ext>
            </a:extLst>
          </p:cNvPr>
          <p:cNvSpPr/>
          <p:nvPr/>
        </p:nvSpPr>
        <p:spPr>
          <a:xfrm>
            <a:off x="7856703" y="4274737"/>
            <a:ext cx="1754207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Layer Norm</a:t>
            </a: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A423DB-0143-FA5A-CBC7-0DE1045E7574}"/>
              </a:ext>
            </a:extLst>
          </p:cNvPr>
          <p:cNvSpPr/>
          <p:nvPr/>
        </p:nvSpPr>
        <p:spPr>
          <a:xfrm>
            <a:off x="7890759" y="4973490"/>
            <a:ext cx="1754207" cy="398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MLP</a:t>
            </a: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B5977E-D383-1AF6-715D-CED600BF445B}"/>
              </a:ext>
            </a:extLst>
          </p:cNvPr>
          <p:cNvCxnSpPr>
            <a:cxnSpLocks/>
          </p:cNvCxnSpPr>
          <p:nvPr/>
        </p:nvCxnSpPr>
        <p:spPr>
          <a:xfrm>
            <a:off x="8733807" y="4673571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FA4C9C-93A5-8842-153C-C2FFD1A9A317}"/>
              </a:ext>
            </a:extLst>
          </p:cNvPr>
          <p:cNvCxnSpPr>
            <a:cxnSpLocks/>
          </p:cNvCxnSpPr>
          <p:nvPr/>
        </p:nvCxnSpPr>
        <p:spPr>
          <a:xfrm>
            <a:off x="8754888" y="5372324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2A07C24-1B73-A852-E829-47B78DE1B7CB}"/>
              </a:ext>
            </a:extLst>
          </p:cNvPr>
          <p:cNvCxnSpPr>
            <a:cxnSpLocks/>
            <a:stCxn id="15" idx="4"/>
            <a:endCxn id="25" idx="0"/>
          </p:cNvCxnSpPr>
          <p:nvPr/>
        </p:nvCxnSpPr>
        <p:spPr>
          <a:xfrm>
            <a:off x="8733807" y="3633105"/>
            <a:ext cx="0" cy="641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D9B047B-75B7-9A00-46D4-9A5060B51EAC}"/>
              </a:ext>
            </a:extLst>
          </p:cNvPr>
          <p:cNvCxnSpPr>
            <a:cxnSpLocks/>
            <a:endCxn id="15" idx="2"/>
          </p:cNvCxnSpPr>
          <p:nvPr/>
        </p:nvCxnSpPr>
        <p:spPr>
          <a:xfrm rot="5400000">
            <a:off x="7640575" y="2312492"/>
            <a:ext cx="1944713" cy="241753"/>
          </a:xfrm>
          <a:prstGeom prst="bentConnector4">
            <a:avLst>
              <a:gd name="adj1" fmla="val 136"/>
              <a:gd name="adj2" fmla="val 44001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902091B-46AE-4565-33EB-AEE2659FE80D}"/>
              </a:ext>
            </a:extLst>
          </p:cNvPr>
          <p:cNvCxnSpPr/>
          <p:nvPr/>
        </p:nvCxnSpPr>
        <p:spPr>
          <a:xfrm rot="5400000">
            <a:off x="7638051" y="4784061"/>
            <a:ext cx="1944713" cy="241753"/>
          </a:xfrm>
          <a:prstGeom prst="bentConnector4">
            <a:avLst>
              <a:gd name="adj1" fmla="val 136"/>
              <a:gd name="adj2" fmla="val 44001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5B1DF0F-9611-E317-2E41-F06288506E9D}"/>
              </a:ext>
            </a:extLst>
          </p:cNvPr>
          <p:cNvCxnSpPr>
            <a:cxnSpLocks/>
          </p:cNvCxnSpPr>
          <p:nvPr/>
        </p:nvCxnSpPr>
        <p:spPr>
          <a:xfrm>
            <a:off x="8748405" y="6122993"/>
            <a:ext cx="0" cy="641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E6D122B-C662-63DE-C0EC-B4FC27D6C916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435814" y="2851370"/>
            <a:ext cx="1" cy="577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442F31-A4A5-1EDD-FBDE-9B478C08F9A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26086" y="4064356"/>
            <a:ext cx="9729" cy="6964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ube 78">
            <a:extLst>
              <a:ext uri="{FF2B5EF4-FFF2-40B4-BE49-F238E27FC236}">
                <a16:creationId xmlns:a16="http://schemas.microsoft.com/office/drawing/2014/main" id="{42DAB087-B4D4-0898-19A7-CDD5E8EEF75A}"/>
              </a:ext>
            </a:extLst>
          </p:cNvPr>
          <p:cNvSpPr/>
          <p:nvPr/>
        </p:nvSpPr>
        <p:spPr>
          <a:xfrm rot="2719481" flipH="1">
            <a:off x="8560518" y="329988"/>
            <a:ext cx="140682" cy="788306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439D3219-2429-AE02-B9A2-7976FEBC982F}"/>
              </a:ext>
            </a:extLst>
          </p:cNvPr>
          <p:cNvSpPr/>
          <p:nvPr/>
        </p:nvSpPr>
        <p:spPr>
          <a:xfrm rot="2719481" flipH="1">
            <a:off x="9099128" y="316826"/>
            <a:ext cx="140682" cy="788306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Cube 82">
            <a:extLst>
              <a:ext uri="{FF2B5EF4-FFF2-40B4-BE49-F238E27FC236}">
                <a16:creationId xmlns:a16="http://schemas.microsoft.com/office/drawing/2014/main" id="{021EFE00-FF42-ECF6-2530-1911AC9E8454}"/>
              </a:ext>
            </a:extLst>
          </p:cNvPr>
          <p:cNvSpPr/>
          <p:nvPr/>
        </p:nvSpPr>
        <p:spPr>
          <a:xfrm rot="2719481" flipH="1">
            <a:off x="4436088" y="5957815"/>
            <a:ext cx="140682" cy="788306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2BECF899-2110-20DB-AD22-B32FEA300A1C}"/>
              </a:ext>
            </a:extLst>
          </p:cNvPr>
          <p:cNvCxnSpPr>
            <a:cxnSpLocks/>
            <a:stCxn id="83" idx="2"/>
            <a:endCxn id="79" idx="4"/>
          </p:cNvCxnSpPr>
          <p:nvPr/>
        </p:nvCxnSpPr>
        <p:spPr>
          <a:xfrm rot="5400000" flipH="1" flipV="1">
            <a:off x="3717075" y="1537800"/>
            <a:ext cx="5702856" cy="4050246"/>
          </a:xfrm>
          <a:prstGeom prst="curvedConnector5">
            <a:avLst>
              <a:gd name="adj1" fmla="val -4009"/>
              <a:gd name="adj2" fmla="val 50003"/>
              <a:gd name="adj3" fmla="val 104009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27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1BF9ED-E13F-5078-EC51-E10C85C289E1}"/>
              </a:ext>
            </a:extLst>
          </p:cNvPr>
          <p:cNvSpPr/>
          <p:nvPr/>
        </p:nvSpPr>
        <p:spPr>
          <a:xfrm>
            <a:off x="1429839" y="1121266"/>
            <a:ext cx="2334638" cy="4995757"/>
          </a:xfrm>
          <a:prstGeom prst="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Or 4">
            <a:extLst>
              <a:ext uri="{FF2B5EF4-FFF2-40B4-BE49-F238E27FC236}">
                <a16:creationId xmlns:a16="http://schemas.microsoft.com/office/drawing/2014/main" id="{6590C9B6-A9E5-AB91-58E3-2FE65130ADFC}"/>
              </a:ext>
            </a:extLst>
          </p:cNvPr>
          <p:cNvSpPr/>
          <p:nvPr/>
        </p:nvSpPr>
        <p:spPr>
          <a:xfrm>
            <a:off x="2357928" y="3058893"/>
            <a:ext cx="483506" cy="454761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C9B529-0B36-BD61-EEAC-817254BDFA97}"/>
              </a:ext>
            </a:extLst>
          </p:cNvPr>
          <p:cNvSpPr/>
          <p:nvPr/>
        </p:nvSpPr>
        <p:spPr>
          <a:xfrm>
            <a:off x="1722580" y="1655278"/>
            <a:ext cx="1754207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Layer Norm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903899-2F86-AB2F-3E9B-9B68C4655096}"/>
              </a:ext>
            </a:extLst>
          </p:cNvPr>
          <p:cNvSpPr/>
          <p:nvPr/>
        </p:nvSpPr>
        <p:spPr>
          <a:xfrm>
            <a:off x="1722579" y="2357702"/>
            <a:ext cx="1754207" cy="39883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Vision Attention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1AC0B8-84F5-D62B-67CA-67A1CD6B13AB}"/>
              </a:ext>
            </a:extLst>
          </p:cNvPr>
          <p:cNvCxnSpPr>
            <a:cxnSpLocks/>
          </p:cNvCxnSpPr>
          <p:nvPr/>
        </p:nvCxnSpPr>
        <p:spPr>
          <a:xfrm>
            <a:off x="2636977" y="935431"/>
            <a:ext cx="0" cy="7198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DCA963-348D-5662-AF10-863B97A74078}"/>
              </a:ext>
            </a:extLst>
          </p:cNvPr>
          <p:cNvCxnSpPr>
            <a:cxnSpLocks/>
          </p:cNvCxnSpPr>
          <p:nvPr/>
        </p:nvCxnSpPr>
        <p:spPr>
          <a:xfrm>
            <a:off x="2633737" y="2054112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3BEC88-06EE-E44E-7C91-EE24A1885C0D}"/>
              </a:ext>
            </a:extLst>
          </p:cNvPr>
          <p:cNvCxnSpPr>
            <a:cxnSpLocks/>
          </p:cNvCxnSpPr>
          <p:nvPr/>
        </p:nvCxnSpPr>
        <p:spPr>
          <a:xfrm>
            <a:off x="2614279" y="2756536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Or 10">
            <a:extLst>
              <a:ext uri="{FF2B5EF4-FFF2-40B4-BE49-F238E27FC236}">
                <a16:creationId xmlns:a16="http://schemas.microsoft.com/office/drawing/2014/main" id="{F823EF7A-EF73-CC1D-FE7A-C2E20AC4220C}"/>
              </a:ext>
            </a:extLst>
          </p:cNvPr>
          <p:cNvSpPr/>
          <p:nvPr/>
        </p:nvSpPr>
        <p:spPr>
          <a:xfrm>
            <a:off x="2352885" y="5507431"/>
            <a:ext cx="504584" cy="496111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7545EE-6C4C-87A1-4CEB-F3FE87573C50}"/>
              </a:ext>
            </a:extLst>
          </p:cNvPr>
          <p:cNvSpPr/>
          <p:nvPr/>
        </p:nvSpPr>
        <p:spPr>
          <a:xfrm>
            <a:off x="1722577" y="4155286"/>
            <a:ext cx="1754207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Layer Norm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093B7F-F4F9-F152-DD21-E6632C0B833C}"/>
              </a:ext>
            </a:extLst>
          </p:cNvPr>
          <p:cNvSpPr/>
          <p:nvPr/>
        </p:nvSpPr>
        <p:spPr>
          <a:xfrm>
            <a:off x="1756633" y="4854039"/>
            <a:ext cx="1754207" cy="398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Vision MLP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296F19-5B58-5519-B1CF-BD2F216844C7}"/>
              </a:ext>
            </a:extLst>
          </p:cNvPr>
          <p:cNvCxnSpPr>
            <a:cxnSpLocks/>
          </p:cNvCxnSpPr>
          <p:nvPr/>
        </p:nvCxnSpPr>
        <p:spPr>
          <a:xfrm>
            <a:off x="2599681" y="4554120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A1C0CC-D13A-0AE8-7270-A6B9DB27268D}"/>
              </a:ext>
            </a:extLst>
          </p:cNvPr>
          <p:cNvCxnSpPr>
            <a:cxnSpLocks/>
          </p:cNvCxnSpPr>
          <p:nvPr/>
        </p:nvCxnSpPr>
        <p:spPr>
          <a:xfrm>
            <a:off x="2620762" y="5252873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8A71B7-F97B-BE10-6F3C-957E451753F9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>
            <a:off x="2599681" y="3513654"/>
            <a:ext cx="0" cy="641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9F3435F-BE95-1CB2-E0F8-212893E73B2F}"/>
              </a:ext>
            </a:extLst>
          </p:cNvPr>
          <p:cNvCxnSpPr>
            <a:endCxn id="5" idx="2"/>
          </p:cNvCxnSpPr>
          <p:nvPr/>
        </p:nvCxnSpPr>
        <p:spPr>
          <a:xfrm rot="5400000">
            <a:off x="1506449" y="2193041"/>
            <a:ext cx="1944713" cy="241753"/>
          </a:xfrm>
          <a:prstGeom prst="bentConnector4">
            <a:avLst>
              <a:gd name="adj1" fmla="val 136"/>
              <a:gd name="adj2" fmla="val 44001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D9BB3AF-E6AC-AD75-A56C-68183407A0BC}"/>
              </a:ext>
            </a:extLst>
          </p:cNvPr>
          <p:cNvCxnSpPr/>
          <p:nvPr/>
        </p:nvCxnSpPr>
        <p:spPr>
          <a:xfrm rot="5400000">
            <a:off x="1503925" y="4664610"/>
            <a:ext cx="1944713" cy="241753"/>
          </a:xfrm>
          <a:prstGeom prst="bentConnector4">
            <a:avLst>
              <a:gd name="adj1" fmla="val 136"/>
              <a:gd name="adj2" fmla="val 44001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435DEB-645D-2BAA-26CC-7C784B9F69BA}"/>
              </a:ext>
            </a:extLst>
          </p:cNvPr>
          <p:cNvCxnSpPr>
            <a:cxnSpLocks/>
          </p:cNvCxnSpPr>
          <p:nvPr/>
        </p:nvCxnSpPr>
        <p:spPr>
          <a:xfrm>
            <a:off x="2614279" y="6003542"/>
            <a:ext cx="0" cy="641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8DACF56-D04C-FD22-7CCA-15D3D27E191B}"/>
              </a:ext>
            </a:extLst>
          </p:cNvPr>
          <p:cNvSpPr/>
          <p:nvPr/>
        </p:nvSpPr>
        <p:spPr>
          <a:xfrm>
            <a:off x="5201974" y="451438"/>
            <a:ext cx="3085987" cy="6066094"/>
          </a:xfrm>
          <a:prstGeom prst="rect">
            <a:avLst/>
          </a:prstGeom>
          <a:solidFill>
            <a:schemeClr val="tx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DC59C0-3471-3D59-70AD-C0761BFAD1C0}"/>
              </a:ext>
            </a:extLst>
          </p:cNvPr>
          <p:cNvSpPr/>
          <p:nvPr/>
        </p:nvSpPr>
        <p:spPr>
          <a:xfrm>
            <a:off x="5877591" y="826665"/>
            <a:ext cx="1754207" cy="39883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418C52-58A6-2D29-ED1C-37B567F0F38A}"/>
              </a:ext>
            </a:extLst>
          </p:cNvPr>
          <p:cNvCxnSpPr>
            <a:cxnSpLocks/>
          </p:cNvCxnSpPr>
          <p:nvPr/>
        </p:nvCxnSpPr>
        <p:spPr>
          <a:xfrm>
            <a:off x="6754695" y="118371"/>
            <a:ext cx="0" cy="7198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B95AFA-DE35-5D0D-FE01-A4A6A410D5D3}"/>
              </a:ext>
            </a:extLst>
          </p:cNvPr>
          <p:cNvCxnSpPr>
            <a:cxnSpLocks/>
          </p:cNvCxnSpPr>
          <p:nvPr/>
        </p:nvCxnSpPr>
        <p:spPr>
          <a:xfrm>
            <a:off x="6742174" y="1225499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1F17AB-DC80-DE95-5460-9E305120EE77}"/>
              </a:ext>
            </a:extLst>
          </p:cNvPr>
          <p:cNvCxnSpPr>
            <a:cxnSpLocks/>
          </p:cNvCxnSpPr>
          <p:nvPr/>
        </p:nvCxnSpPr>
        <p:spPr>
          <a:xfrm>
            <a:off x="6742174" y="1926077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C23718-DA5A-736F-D5D9-48D2F8B26898}"/>
              </a:ext>
            </a:extLst>
          </p:cNvPr>
          <p:cNvSpPr/>
          <p:nvPr/>
        </p:nvSpPr>
        <p:spPr>
          <a:xfrm>
            <a:off x="5472508" y="4647544"/>
            <a:ext cx="1276921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Softmax</a:t>
            </a:r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44C61D1-BACD-6094-D8C5-5CB9CA754267}"/>
              </a:ext>
            </a:extLst>
          </p:cNvPr>
          <p:cNvSpPr/>
          <p:nvPr/>
        </p:nvSpPr>
        <p:spPr>
          <a:xfrm>
            <a:off x="6142597" y="5971665"/>
            <a:ext cx="1250893" cy="39883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58245A-30CF-BA31-36C7-1373E4A7F7AB}"/>
              </a:ext>
            </a:extLst>
          </p:cNvPr>
          <p:cNvCxnSpPr>
            <a:cxnSpLocks/>
          </p:cNvCxnSpPr>
          <p:nvPr/>
        </p:nvCxnSpPr>
        <p:spPr>
          <a:xfrm>
            <a:off x="6742174" y="5686568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78CBEEC-2271-469B-1CCE-B4B3C0DE7E16}"/>
              </a:ext>
            </a:extLst>
          </p:cNvPr>
          <p:cNvCxnSpPr>
            <a:cxnSpLocks/>
            <a:stCxn id="42" idx="2"/>
            <a:endCxn id="63" idx="6"/>
          </p:cNvCxnSpPr>
          <p:nvPr/>
        </p:nvCxnSpPr>
        <p:spPr>
          <a:xfrm rot="5400000">
            <a:off x="5947756" y="3633040"/>
            <a:ext cx="2891468" cy="89496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3D3C57-F151-0834-16D2-D47CACA1927E}"/>
              </a:ext>
            </a:extLst>
          </p:cNvPr>
          <p:cNvCxnSpPr>
            <a:cxnSpLocks/>
          </p:cNvCxnSpPr>
          <p:nvPr/>
        </p:nvCxnSpPr>
        <p:spPr>
          <a:xfrm>
            <a:off x="6768043" y="6381345"/>
            <a:ext cx="0" cy="4178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5B0F7CD-3D26-B38C-9E36-CD2B7F90A58A}"/>
              </a:ext>
            </a:extLst>
          </p:cNvPr>
          <p:cNvSpPr/>
          <p:nvPr/>
        </p:nvSpPr>
        <p:spPr>
          <a:xfrm>
            <a:off x="5865071" y="1514187"/>
            <a:ext cx="1754207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  <a:endParaRPr lang="en-IN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BA0C4E4-8B05-67C3-6DEF-A185ACABC5C5}"/>
              </a:ext>
            </a:extLst>
          </p:cNvPr>
          <p:cNvSpPr/>
          <p:nvPr/>
        </p:nvSpPr>
        <p:spPr>
          <a:xfrm>
            <a:off x="5289512" y="2229667"/>
            <a:ext cx="753172" cy="39883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endParaRPr lang="en-IN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3C7EC41-3A35-8024-4A92-6A2104C03901}"/>
              </a:ext>
            </a:extLst>
          </p:cNvPr>
          <p:cNvSpPr/>
          <p:nvPr/>
        </p:nvSpPr>
        <p:spPr>
          <a:xfrm>
            <a:off x="7467318" y="2235956"/>
            <a:ext cx="747312" cy="39883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626ED5-61E0-AA21-1580-B819D4698BD4}"/>
              </a:ext>
            </a:extLst>
          </p:cNvPr>
          <p:cNvSpPr/>
          <p:nvPr/>
        </p:nvSpPr>
        <p:spPr>
          <a:xfrm>
            <a:off x="5273432" y="2877999"/>
            <a:ext cx="753172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M-ROPE</a:t>
            </a:r>
            <a:endParaRPr lang="en-IN" sz="105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EBF96D9-85C2-F99E-1655-D2B4F4B4973E}"/>
              </a:ext>
            </a:extLst>
          </p:cNvPr>
          <p:cNvSpPr/>
          <p:nvPr/>
        </p:nvSpPr>
        <p:spPr>
          <a:xfrm>
            <a:off x="6365588" y="2225301"/>
            <a:ext cx="753172" cy="39883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  <a:endParaRPr lang="en-IN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F24D693-4181-3C45-A449-C2B2381BC2E4}"/>
              </a:ext>
            </a:extLst>
          </p:cNvPr>
          <p:cNvSpPr/>
          <p:nvPr/>
        </p:nvSpPr>
        <p:spPr>
          <a:xfrm>
            <a:off x="6381530" y="2890611"/>
            <a:ext cx="753172" cy="3988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M-ROPE</a:t>
            </a:r>
            <a:endParaRPr lang="en-IN" sz="1200" dirty="0"/>
          </a:p>
        </p:txBody>
      </p:sp>
      <p:sp>
        <p:nvSpPr>
          <p:cNvPr id="50" name="Flowchart: Summing Junction 49">
            <a:extLst>
              <a:ext uri="{FF2B5EF4-FFF2-40B4-BE49-F238E27FC236}">
                <a16:creationId xmlns:a16="http://schemas.microsoft.com/office/drawing/2014/main" id="{3A967E81-A8B2-42BD-2235-134968ED7EF4}"/>
              </a:ext>
            </a:extLst>
          </p:cNvPr>
          <p:cNvSpPr/>
          <p:nvPr/>
        </p:nvSpPr>
        <p:spPr>
          <a:xfrm>
            <a:off x="5909931" y="3638149"/>
            <a:ext cx="402077" cy="398834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F3BF315-4885-F1CF-BBF5-3059924E1046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5666098" y="3284926"/>
            <a:ext cx="302716" cy="4116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B64424B-C604-9DB4-17E8-6D5D822C6269}"/>
              </a:ext>
            </a:extLst>
          </p:cNvPr>
          <p:cNvCxnSpPr>
            <a:cxnSpLocks/>
            <a:stCxn id="48" idx="2"/>
            <a:endCxn id="50" idx="7"/>
          </p:cNvCxnSpPr>
          <p:nvPr/>
        </p:nvCxnSpPr>
        <p:spPr>
          <a:xfrm flipH="1">
            <a:off x="6253125" y="3289445"/>
            <a:ext cx="504991" cy="4071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31DC6EB-70FF-8AED-370D-AFD1940B1CAF}"/>
              </a:ext>
            </a:extLst>
          </p:cNvPr>
          <p:cNvSpPr/>
          <p:nvPr/>
        </p:nvSpPr>
        <p:spPr>
          <a:xfrm>
            <a:off x="6898104" y="3619145"/>
            <a:ext cx="747312" cy="3988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endParaRPr lang="en-IN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43587E-7F3C-9228-3E20-A8323A7F92FA}"/>
              </a:ext>
            </a:extLst>
          </p:cNvPr>
          <p:cNvCxnSpPr>
            <a:cxnSpLocks/>
            <a:stCxn id="57" idx="1"/>
            <a:endCxn id="50" idx="6"/>
          </p:cNvCxnSpPr>
          <p:nvPr/>
        </p:nvCxnSpPr>
        <p:spPr>
          <a:xfrm flipH="1">
            <a:off x="6312008" y="3818562"/>
            <a:ext cx="586096" cy="190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494220-0CFE-0482-DDED-97A8B5D4DFB4}"/>
              </a:ext>
            </a:extLst>
          </p:cNvPr>
          <p:cNvCxnSpPr>
            <a:cxnSpLocks/>
            <a:stCxn id="50" idx="4"/>
            <a:endCxn id="28" idx="0"/>
          </p:cNvCxnSpPr>
          <p:nvPr/>
        </p:nvCxnSpPr>
        <p:spPr>
          <a:xfrm flipH="1">
            <a:off x="6110969" y="4036983"/>
            <a:ext cx="1" cy="6105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Summing Junction 62">
            <a:extLst>
              <a:ext uri="{FF2B5EF4-FFF2-40B4-BE49-F238E27FC236}">
                <a16:creationId xmlns:a16="http://schemas.microsoft.com/office/drawing/2014/main" id="{6BDFC28F-DB7A-73CF-BA53-E554025CA395}"/>
              </a:ext>
            </a:extLst>
          </p:cNvPr>
          <p:cNvSpPr/>
          <p:nvPr/>
        </p:nvSpPr>
        <p:spPr>
          <a:xfrm>
            <a:off x="6543928" y="5326841"/>
            <a:ext cx="402077" cy="398834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3C8134B-AA8E-ADA8-FF6E-AF999C1DFC0A}"/>
              </a:ext>
            </a:extLst>
          </p:cNvPr>
          <p:cNvCxnSpPr>
            <a:cxnSpLocks/>
          </p:cNvCxnSpPr>
          <p:nvPr/>
        </p:nvCxnSpPr>
        <p:spPr>
          <a:xfrm>
            <a:off x="5671677" y="2598105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E499287-1F8F-59E9-5D94-FBCA1163A9A0}"/>
              </a:ext>
            </a:extLst>
          </p:cNvPr>
          <p:cNvCxnSpPr>
            <a:cxnSpLocks/>
          </p:cNvCxnSpPr>
          <p:nvPr/>
        </p:nvCxnSpPr>
        <p:spPr>
          <a:xfrm>
            <a:off x="6758116" y="2634790"/>
            <a:ext cx="0" cy="3035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E2D8B0FF-C40A-9BAA-043A-7E821F3A7B8C}"/>
              </a:ext>
            </a:extLst>
          </p:cNvPr>
          <p:cNvCxnSpPr>
            <a:cxnSpLocks/>
            <a:endCxn id="63" idx="2"/>
          </p:cNvCxnSpPr>
          <p:nvPr/>
        </p:nvCxnSpPr>
        <p:spPr>
          <a:xfrm rot="16200000" flipH="1">
            <a:off x="6096147" y="5078476"/>
            <a:ext cx="465777" cy="42978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281909D-732A-04E7-545C-0F107331AF46}"/>
              </a:ext>
            </a:extLst>
          </p:cNvPr>
          <p:cNvSpPr txBox="1"/>
          <p:nvPr/>
        </p:nvSpPr>
        <p:spPr>
          <a:xfrm>
            <a:off x="6749429" y="124678"/>
            <a:ext cx="206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Num_tokens</a:t>
            </a:r>
            <a:r>
              <a:rPr lang="en-US" sz="1400" dirty="0"/>
              <a:t>, </a:t>
            </a:r>
            <a:r>
              <a:rPr lang="en-US" sz="1400" dirty="0" err="1"/>
              <a:t>hidden_size</a:t>
            </a:r>
            <a:endParaRPr lang="en-IN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2A272B-4198-B896-5C11-CD5322D12B05}"/>
              </a:ext>
            </a:extLst>
          </p:cNvPr>
          <p:cNvSpPr txBox="1"/>
          <p:nvPr/>
        </p:nvSpPr>
        <p:spPr>
          <a:xfrm>
            <a:off x="6869758" y="6522035"/>
            <a:ext cx="206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Num_tokens</a:t>
            </a:r>
            <a:r>
              <a:rPr lang="en-US" sz="1400" dirty="0"/>
              <a:t>, </a:t>
            </a:r>
            <a:r>
              <a:rPr lang="en-US" sz="1400" dirty="0" err="1"/>
              <a:t>hidden_size</a:t>
            </a:r>
            <a:endParaRPr lang="en-IN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195D2B3-2D64-D733-EDFE-930F2AB63866}"/>
              </a:ext>
            </a:extLst>
          </p:cNvPr>
          <p:cNvSpPr txBox="1"/>
          <p:nvPr/>
        </p:nvSpPr>
        <p:spPr>
          <a:xfrm>
            <a:off x="1572843" y="558931"/>
            <a:ext cx="206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Num_tokens</a:t>
            </a:r>
            <a:r>
              <a:rPr lang="en-US" sz="1400" dirty="0"/>
              <a:t>, </a:t>
            </a:r>
            <a:r>
              <a:rPr lang="en-US" sz="1400" dirty="0" err="1"/>
              <a:t>hidden_size</a:t>
            </a:r>
            <a:endParaRPr lang="en-IN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EE1589E-4316-0D56-CC29-DC69C90501B4}"/>
              </a:ext>
            </a:extLst>
          </p:cNvPr>
          <p:cNvSpPr txBox="1"/>
          <p:nvPr/>
        </p:nvSpPr>
        <p:spPr>
          <a:xfrm>
            <a:off x="1564824" y="6535028"/>
            <a:ext cx="206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Num_tokens</a:t>
            </a:r>
            <a:r>
              <a:rPr lang="en-US" sz="1400" dirty="0"/>
              <a:t>, </a:t>
            </a:r>
            <a:r>
              <a:rPr lang="en-US" sz="1400" dirty="0" err="1"/>
              <a:t>hidden_size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8312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A6B107-F38D-313D-6555-929932029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064709"/>
              </p:ext>
            </p:extLst>
          </p:nvPr>
        </p:nvGraphicFramePr>
        <p:xfrm>
          <a:off x="5030987" y="666402"/>
          <a:ext cx="2537132" cy="5525196"/>
        </p:xfrm>
        <a:graphic>
          <a:graphicData uri="http://schemas.openxmlformats.org/drawingml/2006/table">
            <a:tbl>
              <a:tblPr/>
              <a:tblGrid>
                <a:gridCol w="612411">
                  <a:extLst>
                    <a:ext uri="{9D8B030D-6E8A-4147-A177-3AD203B41FA5}">
                      <a16:colId xmlns:a16="http://schemas.microsoft.com/office/drawing/2014/main" val="3964121490"/>
                    </a:ext>
                  </a:extLst>
                </a:gridCol>
                <a:gridCol w="712397">
                  <a:extLst>
                    <a:ext uri="{9D8B030D-6E8A-4147-A177-3AD203B41FA5}">
                      <a16:colId xmlns:a16="http://schemas.microsoft.com/office/drawing/2014/main" val="442735282"/>
                    </a:ext>
                  </a:extLst>
                </a:gridCol>
                <a:gridCol w="1212324">
                  <a:extLst>
                    <a:ext uri="{9D8B030D-6E8A-4147-A177-3AD203B41FA5}">
                      <a16:colId xmlns:a16="http://schemas.microsoft.com/office/drawing/2014/main" val="3881654433"/>
                    </a:ext>
                  </a:extLst>
                </a:gridCol>
              </a:tblGrid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Token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67088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151644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'&lt;|im_start|&gt;'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752029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8948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'system'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367597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'\n'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32415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'You'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3928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514060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685852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10950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helpful'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8502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17847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assistant'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730738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'.'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29863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151645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'&lt;|im_end|&gt;'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281627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'\n'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497056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151644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'&lt;|im_start|&gt;'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138645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872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'user'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02747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'\n'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872615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151652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'&lt;|vision_start|&gt;'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914311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151655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'&lt;|image_pad|&gt;'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204287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584766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151655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'&lt;|image_pad|&gt;'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1932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1731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151653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'&lt;|vision_end|&gt;'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671105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1732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74785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'Describe'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267844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539592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568403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'.'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147725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1736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151645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'&lt;|im_end|&gt;'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35786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1737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'\n'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787080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151644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'&lt;|im_start|&gt;'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63460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1739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77091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'assistant'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728252"/>
                  </a:ext>
                </a:extLst>
              </a:tr>
              <a:tr h="19052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1740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'\n'</a:t>
                      </a:r>
                    </a:p>
                  </a:txBody>
                  <a:tcPr marL="7127" marR="7127" marT="7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50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75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2830-D550-50BA-A2CA-49503540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4E58-D927-9C43-4782-2E4739C1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image depicts a black and white illustration of a person floating in a circular, concentric tunnel. The tunnel has a spiral pattern, and the person appears to be floating in the </a:t>
            </a:r>
            <a:r>
              <a:rPr lang="en-IN" dirty="0" err="1"/>
              <a:t>center</a:t>
            </a:r>
            <a:r>
              <a:rPr lang="en-IN" dirty="0"/>
              <a:t> of the tunnel, surrounded by concentric circles. The background is dark, emphasizing the tunnel and the floating figure. The text below the image reads: "Comfort is a drug. Once you get used to it, it becomes addicting. Give a weak person consistent stimulation, good food, cheap entertainment and they\'ll throw their ambitions right out the window. The comfort zone is where dreams go and die.</a:t>
            </a:r>
          </a:p>
        </p:txBody>
      </p:sp>
    </p:spTree>
    <p:extLst>
      <p:ext uri="{BB962C8B-B14F-4D97-AF65-F5344CB8AC3E}">
        <p14:creationId xmlns:p14="http://schemas.microsoft.com/office/powerpoint/2010/main" val="296554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421</Words>
  <Application>Microsoft Office PowerPoint</Application>
  <PresentationFormat>Widescreen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</dc:creator>
  <cp:lastModifiedBy>raj kumar</cp:lastModifiedBy>
  <cp:revision>10</cp:revision>
  <dcterms:created xsi:type="dcterms:W3CDTF">2026-07-20T16:50:19Z</dcterms:created>
  <dcterms:modified xsi:type="dcterms:W3CDTF">2026-07-21T19:10:30Z</dcterms:modified>
</cp:coreProperties>
</file>